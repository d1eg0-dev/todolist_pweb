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sEku7N55nJTARYJgjKY0bjtUQ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046720" y="109728"/>
            <a:ext cx="201168" cy="201168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339328" y="109728"/>
            <a:ext cx="201168" cy="201168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8631936" y="109728"/>
            <a:ext cx="201168" cy="201168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8924544" y="109728"/>
            <a:ext cx="201168" cy="201168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0" y="4800600"/>
            <a:ext cx="2286000" cy="342900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286000" y="4800600"/>
            <a:ext cx="2286000" cy="342900"/>
          </a:xfrm>
          <a:prstGeom prst="rect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4572000" y="4800600"/>
            <a:ext cx="2286000" cy="342900"/>
          </a:xfrm>
          <a:prstGeom prst="rect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58000" y="4800600"/>
            <a:ext cx="2286000" cy="342900"/>
          </a:xfrm>
          <a:prstGeom prst="rect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5943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1737360" y="4572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Auth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828600" y="1554475"/>
            <a:ext cx="5120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DIEGO MIRABAL</a:t>
            </a:r>
            <a:endParaRPr sz="2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t/>
            </a:r>
            <a:endParaRPr sz="2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737297" y="3136563"/>
            <a:ext cx="1645800" cy="411600"/>
          </a:xfrm>
          <a:prstGeom prst="roundRect">
            <a:avLst>
              <a:gd fmla="val 17778" name="adj"/>
            </a:avLst>
          </a:prstGeom>
          <a:solidFill>
            <a:srgbClr val="1A73E8">
              <a:alpha val="70196"/>
            </a:srgbClr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737360" y="3136500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566048" y="3136863"/>
            <a:ext cx="1645800" cy="411600"/>
          </a:xfrm>
          <a:prstGeom prst="roundRect">
            <a:avLst>
              <a:gd fmla="val 17778" name="adj"/>
            </a:avLst>
          </a:prstGeom>
          <a:solidFill>
            <a:srgbClr val="34A853">
              <a:alpha val="70196"/>
            </a:srgbClr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566160" y="3136563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OpenID Connect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394897" y="3136713"/>
            <a:ext cx="1645800" cy="411600"/>
          </a:xfrm>
          <a:prstGeom prst="roundRect">
            <a:avLst>
              <a:gd fmla="val 17778" name="adj"/>
            </a:avLst>
          </a:prstGeom>
          <a:solidFill>
            <a:srgbClr val="EA4335">
              <a:alpha val="70196"/>
            </a:srgbClr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394960" y="3136638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223760" y="3136788"/>
            <a:ext cx="1645800" cy="411600"/>
          </a:xfrm>
          <a:prstGeom prst="roundRect">
            <a:avLst>
              <a:gd fmla="val 17778" name="adj"/>
            </a:avLst>
          </a:prstGeom>
          <a:solidFill>
            <a:srgbClr val="FBBC05">
              <a:alpha val="70196"/>
            </a:srgbClr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223760" y="3136563"/>
            <a:ext cx="164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Tokens JWT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Presentación Técnica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1709300" y="2308500"/>
            <a:ext cx="5359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Autenticación con Google para la Web Moderna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¿Qué es Google Auth?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74320" y="960120"/>
            <a:ext cx="8595360" cy="1371600"/>
          </a:xfrm>
          <a:prstGeom prst="rect">
            <a:avLst/>
          </a:prstGeom>
          <a:solidFill>
            <a:srgbClr val="4285F4">
              <a:alpha val="12156"/>
            </a:srgbClr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rPr>
              <a:t>Google Auth</a:t>
            </a:r>
            <a:r>
              <a:rPr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es el sistema de autenticación y autorización de Google, basado en los estándares </a:t>
            </a:r>
            <a:r>
              <a:rPr b="1" lang="en-US" sz="15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r>
              <a:rPr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lang="en-US" sz="150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OpenID Connect</a:t>
            </a:r>
            <a:r>
              <a:rPr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. Permite que aplicaciones de terceros accedan a los servicios de Google o verifiquen la identidad de un usuario sin exponer su contraseña.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74320" y="2560320"/>
            <a:ext cx="27432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74320" y="2560320"/>
            <a:ext cx="2743200" cy="73152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280160" y="2697480"/>
            <a:ext cx="731520" cy="731520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788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274320" y="3520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Identidad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39319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Verifica quién es el usuario mediante la cuenta de Google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46120" y="2560320"/>
            <a:ext cx="27432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246120" y="2560320"/>
            <a:ext cx="2743200" cy="73152"/>
          </a:xfrm>
          <a:prstGeom prst="rect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251960" y="2697480"/>
            <a:ext cx="731520" cy="731520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788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3246120" y="3520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Autorización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337560" y="39319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Controla a qué recursos puede acceder cada aplicación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217920" y="2560320"/>
            <a:ext cx="2743200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217920" y="2560320"/>
            <a:ext cx="2743200" cy="73152"/>
          </a:xfrm>
          <a:prstGeom prst="rect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223760" y="2697480"/>
            <a:ext cx="731520" cy="731520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7889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6217920" y="3520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309360" y="393192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Estándares abiertos y cifrado de extremo a extremo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8046720" y="109728"/>
            <a:ext cx="201168" cy="201168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339328" y="109728"/>
            <a:ext cx="201168" cy="201168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631936" y="109728"/>
            <a:ext cx="201168" cy="201168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8924544" y="109728"/>
            <a:ext cx="201168" cy="201168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Funciona?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Flujo OAuth 2.0 / OpenID Connect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85800" y="1280160"/>
            <a:ext cx="685800" cy="685800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85800" y="1280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3"/>
          <p:cNvCxnSpPr/>
          <p:nvPr/>
        </p:nvCxnSpPr>
        <p:spPr>
          <a:xfrm>
            <a:off x="1389888" y="1618488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3"/>
          <p:cNvSpPr/>
          <p:nvPr/>
        </p:nvSpPr>
        <p:spPr>
          <a:xfrm>
            <a:off x="320040" y="2148840"/>
            <a:ext cx="1554480" cy="1143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20040" y="2148840"/>
            <a:ext cx="1554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 hace clic 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"Iniciar sesión con Google"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450592" y="1280160"/>
            <a:ext cx="685800" cy="685800"/>
          </a:xfrm>
          <a:prstGeom prst="ellipse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450592" y="1280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3"/>
          <p:cNvCxnSpPr/>
          <p:nvPr/>
        </p:nvCxnSpPr>
        <p:spPr>
          <a:xfrm>
            <a:off x="3154680" y="1618488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3"/>
          <p:cNvSpPr/>
          <p:nvPr/>
        </p:nvSpPr>
        <p:spPr>
          <a:xfrm>
            <a:off x="2084832" y="2148840"/>
            <a:ext cx="1554480" cy="1143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2084832" y="2148840"/>
            <a:ext cx="1554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redirige 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Servidor de Auth de Google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215384" y="1280160"/>
            <a:ext cx="685800" cy="685800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215384" y="1280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4919472" y="1618488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3"/>
          <p:cNvSpPr/>
          <p:nvPr/>
        </p:nvSpPr>
        <p:spPr>
          <a:xfrm>
            <a:off x="3849624" y="2148840"/>
            <a:ext cx="1554480" cy="1143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849624" y="2148840"/>
            <a:ext cx="1554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 ingresa credenciales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otorga permisos (scopes)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980176" y="1280160"/>
            <a:ext cx="685800" cy="685800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5980176" y="1280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6684264" y="1618488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5614416" y="2148840"/>
            <a:ext cx="1554480" cy="1143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614416" y="2148840"/>
            <a:ext cx="1554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devuelve un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Authorization 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744968" y="1280160"/>
            <a:ext cx="685800" cy="685800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744968" y="128016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379208" y="2148840"/>
            <a:ext cx="1554480" cy="11430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379208" y="2148840"/>
            <a:ext cx="1554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intercambia el 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Access + ID Token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74320" y="3474720"/>
            <a:ext cx="8595360" cy="1417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Tipos de Token: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4005072"/>
            <a:ext cx="109728" cy="109728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48640" y="39593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rPr>
              <a:t>Access Token: </a:t>
            </a: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Permite acceder a APIs de Google (corta duración ~1h)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365760" y="4306824"/>
            <a:ext cx="109728" cy="109728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548640" y="42611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ID Token (JWT): </a:t>
            </a: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Contiene info del usuario: nombre, email, foto, sub (ID único)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65760" y="4608576"/>
            <a:ext cx="109728" cy="109728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548640" y="456285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Refresh Token: </a:t>
            </a: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Permite obtener nuevos Access Tokens sin re-autenticar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¿Para Qué se Usa?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74320" y="1005840"/>
            <a:ext cx="73152" cy="1828800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1234440" y="1188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Single Sign-On (SSO)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234440" y="16002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Permite a los usuarios acceder a múltiples servicios con una sola cuenta Google. Elimina la necesidad de recordar múltiples contraseñas.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663440" y="1005840"/>
            <a:ext cx="73152" cy="1828800"/>
          </a:xfrm>
          <a:prstGeom prst="rect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846320" y="1554480"/>
            <a:ext cx="640080" cy="640080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760" y="1645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5623560" y="11887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Acceso a APIs de Google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623560" y="16002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Autoriza apps para usar Gmail, Drive, Calendar, YouTube, etc., con los permisos exactos que el usuario aprueba (scopes).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657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1234440" y="3200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Apps Móviles y Web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234440" y="361188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Integración en apps Android, iOS y web SPA. Manejo seguro de sesiones sin almacenar contraseñas propias.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663440" y="3017520"/>
            <a:ext cx="73152" cy="1828800"/>
          </a:xfrm>
          <a:prstGeom prst="rect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846320" y="3566160"/>
            <a:ext cx="640080" cy="640080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7760" y="3657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5623560" y="320040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Backend Server-to-Server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623560" y="361188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Service Accounts para comunicación entre servicios en la nube sin intervención del usuario (Google Cloud, GCP).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8046720" y="109728"/>
            <a:ext cx="201168" cy="201168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339328" y="109728"/>
            <a:ext cx="201168" cy="201168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8631936" y="109728"/>
            <a:ext cx="201168" cy="201168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924544" y="109728"/>
            <a:ext cx="201168" cy="201168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 Web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Identity Services (GIS) — la librería oficial más reciente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74320" y="1097280"/>
            <a:ext cx="1280160" cy="347472"/>
          </a:xfrm>
          <a:prstGeom prst="rect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74320" y="1097280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74320" y="1417320"/>
            <a:ext cx="3931920" cy="1600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11480" y="14813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&lt;!-- Incluir la librería GIS --&gt;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11480" y="17099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script </a:t>
            </a:r>
            <a:r>
              <a:rPr lang="en-US" sz="950">
                <a:solidFill>
                  <a:srgbClr val="92D192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en-US" sz="9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="https://accounts.google.com/gsi/client"</a:t>
            </a: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script</a:t>
            </a: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11480" y="19385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11480" y="21671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div </a:t>
            </a:r>
            <a:r>
              <a:rPr lang="en-US" sz="950">
                <a:solidFill>
                  <a:srgbClr val="92D192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9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="g_id_onload"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11480" y="23957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data-client_id="TU_CLIENT_ID"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11480" y="262432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E917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 data-callback="handleCredential"&gt;</a:t>
            </a: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389120" y="1097280"/>
            <a:ext cx="1463040" cy="347472"/>
          </a:xfrm>
          <a:prstGeom prst="rect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389120" y="109728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389120" y="1417320"/>
            <a:ext cx="4434840" cy="1600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480560" y="14813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>
              <a:rPr lang="en-US" sz="950">
                <a:solidFill>
                  <a:srgbClr val="4FC1FF"/>
                </a:solidFill>
                <a:latin typeface="Consolas"/>
                <a:ea typeface="Consolas"/>
                <a:cs typeface="Consolas"/>
                <a:sym typeface="Consolas"/>
              </a:rPr>
              <a:t>handleCredential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(response) {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480560" y="17099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// Decodificar el JWT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480560" y="19385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  const 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payload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jwt_decode(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480560" y="21671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response.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credential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480560" y="23957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480560" y="26243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console.</a:t>
            </a:r>
            <a:r>
              <a:rPr lang="en-US" sz="95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(payload.</a:t>
            </a:r>
            <a:r>
              <a:rPr lang="en-US" sz="950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480560" y="285292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74320" y="3127248"/>
            <a:ext cx="8549640" cy="17830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11480" y="3200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JWT Payload Decodificado (lo que Google devuelve):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11480" y="3520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{ "sub": "10769150350006150715113082367",  // ID único del usuario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11480" y="37947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  "email": "usuario@gmail.com",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11480" y="40690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  "name": "Juan Pérez",  "picture": "https://...foto.jpg",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11480" y="43434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  "iat": 1685000000,  "exp": 1685003600  // Timestamps Unix 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Scopes y Seguridad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rPr>
              <a:t>Scopes más usados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74320" y="141732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74320" y="1417320"/>
            <a:ext cx="64008" cy="594360"/>
          </a:xfrm>
          <a:prstGeom prst="rect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57200" y="144475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openid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57200" y="17190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Identidad básica del usuario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274320" y="210312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274320" y="2103120"/>
            <a:ext cx="64008" cy="594360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57200" y="213055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57200" y="24048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Dirección de correo electrónico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74320" y="278892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74320" y="2788920"/>
            <a:ext cx="64008" cy="594360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57200" y="281635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profile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30906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Nombre, foto de perfil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74320" y="347472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274320" y="3474720"/>
            <a:ext cx="64008" cy="594360"/>
          </a:xfrm>
          <a:prstGeom prst="rect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57200" y="350215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https://www.googleapis.com/auth/drive.readonly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37764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Leer archivos de Drive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74320" y="4160520"/>
            <a:ext cx="41148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74320" y="4160520"/>
            <a:ext cx="64008" cy="594360"/>
          </a:xfrm>
          <a:prstGeom prst="rect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57200" y="4187952"/>
            <a:ext cx="36576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https://www.googleapis.com/auth/gmail.send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44622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Enviar correos por Gmail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Buenas Prácticas de Seguridad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14173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6"/>
          <p:cNvSpPr/>
          <p:nvPr/>
        </p:nvSpPr>
        <p:spPr>
          <a:xfrm>
            <a:off x="5029200" y="138988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Verificar siempre el token en el servidor, nunca confiar solo en el cliente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19842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5029200" y="1956816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Solicitar únicamente los scopes necesarios (principio de mínimo privilegio)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25511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5029200" y="2523744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Usar PKCE en apps móviles y SPAs para prevenir ataques de intercepción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311810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5029200" y="3090672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Validar el campo 'aud' del JWT — debe coincidir con tu Client 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36850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/>
          <p:nvPr/>
        </p:nvSpPr>
        <p:spPr>
          <a:xfrm>
            <a:off x="5029200" y="3657600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Nunca almacenar el Client Secret en código frontend o repositorios públicos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/>
          <p:nvPr/>
        </p:nvSpPr>
        <p:spPr>
          <a:xfrm>
            <a:off x="5029200" y="4224528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Implementar revocación de tokens al cerrar sesión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8046720" y="109728"/>
            <a:ext cx="201168" cy="201168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339328" y="109728"/>
            <a:ext cx="201168" cy="201168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8631936" y="109728"/>
            <a:ext cx="201168" cy="201168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8924544" y="109728"/>
            <a:ext cx="201168" cy="201168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Ventajas y Casos Reales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253619" y="928662"/>
            <a:ext cx="2560320" cy="12801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278544" y="969507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rPr>
              <a:t>3B+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313014" y="16459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Cuentas Google activas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290572" y="920570"/>
            <a:ext cx="2560320" cy="12801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297854" y="953242"/>
            <a:ext cx="2560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98%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305136" y="161861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Reducción de phishing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vs contraseñas propias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Algunas empresas que lo usan: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74320" y="2834640"/>
            <a:ext cx="1920240" cy="411480"/>
          </a:xfrm>
          <a:prstGeom prst="roundRect">
            <a:avLst>
              <a:gd fmla="val 1333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274320" y="28346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Shopify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2423160" y="2834640"/>
            <a:ext cx="1920240" cy="411480"/>
          </a:xfrm>
          <a:prstGeom prst="roundRect">
            <a:avLst>
              <a:gd fmla="val 1333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2423160" y="28346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Overflow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72000" y="2834640"/>
            <a:ext cx="1920240" cy="411480"/>
          </a:xfrm>
          <a:prstGeom prst="roundRect">
            <a:avLst>
              <a:gd fmla="val 1333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4572000" y="28346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720840" y="2846980"/>
            <a:ext cx="1920240" cy="411480"/>
          </a:xfrm>
          <a:prstGeom prst="roundRect">
            <a:avLst>
              <a:gd fmla="val 13333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711696" y="283464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Canva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201169" y="3328659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Ventajas principales: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423160" y="3474720"/>
            <a:ext cx="164592" cy="164592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2756918" y="339242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gestionar contraseñas propias (menos riesgos)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423160" y="3794760"/>
            <a:ext cx="164592" cy="164592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2756918" y="3683575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Autenticación multifactor heredada de Google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423160" y="4099506"/>
            <a:ext cx="164592" cy="164592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742352" y="3981362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UX fluida — un clic para iniciar sesión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428582" y="4404252"/>
            <a:ext cx="164592" cy="164592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2742352" y="4280363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Datos del perfil incluidos gratis en el token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2423160" y="4708998"/>
            <a:ext cx="164592" cy="164592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2736930" y="4568844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Compatible con todos los frameworks modernos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"/>
          <p:cNvSpPr/>
          <p:nvPr/>
        </p:nvSpPr>
        <p:spPr>
          <a:xfrm>
            <a:off x="8046720" y="109728"/>
            <a:ext cx="201168" cy="201168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339328" y="109728"/>
            <a:ext cx="201168" cy="201168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8631936" y="109728"/>
            <a:ext cx="201168" cy="201168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8924544" y="109728"/>
            <a:ext cx="201168" cy="201168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0" y="4800600"/>
            <a:ext cx="2286000" cy="342900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2286000" y="4800600"/>
            <a:ext cx="2286000" cy="342900"/>
          </a:xfrm>
          <a:prstGeom prst="rect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572000" y="4800600"/>
            <a:ext cx="2286000" cy="342900"/>
          </a:xfrm>
          <a:prstGeom prst="rect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6858000" y="4800600"/>
            <a:ext cx="2286000" cy="342900"/>
          </a:xfrm>
          <a:prstGeom prst="rect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64008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/>
          <p:nvPr/>
        </p:nvSpPr>
        <p:spPr>
          <a:xfrm>
            <a:off x="457200" y="22402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57200" y="3044952"/>
            <a:ext cx="256032" cy="256032"/>
          </a:xfrm>
          <a:prstGeom prst="ellipse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804672" y="29718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A73E8"/>
                </a:solidFill>
                <a:latin typeface="Calibri"/>
                <a:ea typeface="Calibri"/>
                <a:cs typeface="Calibri"/>
                <a:sym typeface="Calibri"/>
              </a:rPr>
              <a:t>OAuth 2.0 + OIDC: </a:t>
            </a:r>
            <a:r>
              <a:rPr lang="en-US" sz="12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Estándar abierto, seguro y ampliamente adoptado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4846320" y="3044952"/>
            <a:ext cx="256032" cy="256032"/>
          </a:xfrm>
          <a:prstGeom prst="ellipse">
            <a:avLst/>
          </a:prstGeom>
          <a:solidFill>
            <a:srgbClr val="34A853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193792" y="29718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Fácil integración: </a:t>
            </a:r>
            <a:r>
              <a:rPr lang="en-US" sz="12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GIS library lista en minutos con cualquier framework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57200" y="3794760"/>
            <a:ext cx="256032" cy="256032"/>
          </a:xfrm>
          <a:prstGeom prst="ellipse">
            <a:avLst/>
          </a:prstGeom>
          <a:solidFill>
            <a:srgbClr val="EA4335"/>
          </a:solidFill>
          <a:ln cap="flat" cmpd="sng" w="12700">
            <a:solidFill>
              <a:srgbClr val="EA43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804672" y="372160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Seguridad robusta: </a:t>
            </a:r>
            <a:r>
              <a:rPr lang="en-US" sz="12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MFA, revocación de tokens, mínimo privilegio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846320" y="3794760"/>
            <a:ext cx="256032" cy="256032"/>
          </a:xfrm>
          <a:prstGeom prst="ellipse">
            <a:avLst/>
          </a:prstGeom>
          <a:solidFill>
            <a:srgbClr val="FBBC05"/>
          </a:solidFill>
          <a:ln cap="flat" cmpd="sng" w="12700">
            <a:solidFill>
              <a:srgbClr val="FBBC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193792" y="3721608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Gran ecosistema: </a:t>
            </a:r>
            <a:r>
              <a:rPr lang="en-US" sz="125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Acceso a todo el universo de APIs de Google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¡Gracias!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2026-05-26T02:07:02Z</dcterms:created>
  <dc:creator>PptxGenJS</dc:creator>
</cp:coreProperties>
</file>